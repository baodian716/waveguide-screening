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waveguide-screening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918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55555"/>
                </a:solidFill>
              </a:defRPr>
            </a:pPr>
            <a:r>
              <a:t>Physics-guided parameter screening, refactored from a master's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[Your name]   | 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從碩論研究衍生的篩選需求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研究目標：找適合長距離傳輸的波導結構參數</a:t>
            </a:r>
          </a:p>
          <a:p>
            <a:pPr lvl="1">
              <a:spcAft>
                <a:spcPts val="800"/>
              </a:spcAft>
            </a:pPr>
            <a:r>
              <a:rPr sz="1600"/>
              <a:t>Search space：81 widths × 800 wavelengths = 64,800 candidates</a:t>
            </a:r>
          </a:p>
          <a:p>
            <a:pPr lvl="1">
              <a:spcAft>
                <a:spcPts val="800"/>
              </a:spcAft>
            </a:pPr>
            <a:r>
              <a:rPr sz="1600"/>
              <a:t>純暴力掃描無法直接挑出最佳組合</a:t>
            </a:r>
          </a:p>
          <a:p>
            <a:pPr>
              <a:spcAft>
                <a:spcPts val="800"/>
              </a:spcAft>
            </a:pPr>
            <a:r>
              <a:rPr sz="2000" b="1"/>
              <a:t>需要的是 physics-guided screening：用物理條件先過濾、再排序</a:t>
            </a:r>
          </a:p>
          <a:p>
            <a:pPr lvl="1">
              <a:spcAft>
                <a:spcPts val="800"/>
              </a:spcAft>
            </a:pPr>
            <a:r>
              <a:rPr sz="1600"/>
              <a:t>挑戰：條件設計、流程組裝、結果視覺化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Method: three physics conditions +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用物理意義可解釋的條件做正交篩選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C1  Peak intensity at center axis  (top 5%)</a:t>
            </a:r>
          </a:p>
          <a:p>
            <a:pPr lvl="1">
              <a:spcAft>
                <a:spcPts val="800"/>
              </a:spcAft>
            </a:pPr>
            <a:r>
              <a:rPr sz="1600"/>
              <a:t>中心軸能量夠強 → 光仍集中在傳輸方向</a:t>
            </a:r>
          </a:p>
          <a:p>
            <a:pPr>
              <a:spcAft>
                <a:spcPts val="800"/>
              </a:spcAft>
            </a:pPr>
            <a:r>
              <a:rPr sz="2000" b="1"/>
              <a:t>C2  Er / Ephi overlap integral  η ≥ 0.95</a:t>
            </a:r>
          </a:p>
          <a:p>
            <a:pPr lvl="1">
              <a:spcAft>
                <a:spcPts val="800"/>
              </a:spcAft>
            </a:pPr>
            <a:r>
              <a:rPr sz="1600"/>
              <a:t>場分布對稱 → 模態純度高</a:t>
            </a:r>
          </a:p>
          <a:p>
            <a:pPr>
              <a:spcAft>
                <a:spcPts val="800"/>
              </a:spcAft>
            </a:pPr>
            <a:r>
              <a:rPr sz="2000" b="1"/>
              <a:t>C3  Half-divergence angle  &lt; 1.5°</a:t>
            </a:r>
          </a:p>
          <a:p>
            <a:pPr lvl="1">
              <a:spcAft>
                <a:spcPts val="800"/>
              </a:spcAft>
            </a:pPr>
            <a:r>
              <a:rPr sz="1600"/>
              <a:t>光束發散夠低 → 能維持長距離傳輸</a:t>
            </a:r>
          </a:p>
          <a:p>
            <a:pPr>
              <a:spcAft>
                <a:spcPts val="800"/>
              </a:spcAft>
            </a:pPr>
            <a:r>
              <a:rPr sz="2000" b="1"/>
              <a:t>→ 通過三條件後，依 transmission efficiency 排序取 Top-10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From research script to modular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把 281 行 MATLAB 單檔重構成 6 個 Python 模組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原始狀態：MATLAB 單檔，I/O + 計算 + 篩選 + 視覺化全混</a:t>
            </a:r>
          </a:p>
          <a:p>
            <a:pPr>
              <a:spcAft>
                <a:spcPts val="800"/>
              </a:spcAft>
            </a:pPr>
            <a:r>
              <a:rPr sz="2000" b="1"/>
              <a:t>重構後：模組化、可單元測試、易擴充</a:t>
            </a:r>
          </a:p>
          <a:p>
            <a:pPr lvl="1">
              <a:spcAft>
                <a:spcPts val="800"/>
              </a:spcAft>
            </a:pPr>
            <a:r>
              <a:rPr sz="1600"/>
              <a:t>config.py — 網格與閾值常數</a:t>
            </a:r>
          </a:p>
          <a:p>
            <a:pPr lvl="1">
              <a:spcAft>
                <a:spcPts val="800"/>
              </a:spcAft>
            </a:pPr>
            <a:r>
              <a:rPr sz="1600"/>
              <a:t>generate_demo_data.py — 合成資料生成</a:t>
            </a:r>
          </a:p>
          <a:p>
            <a:pPr lvl="1">
              <a:spcAft>
                <a:spcPts val="800"/>
              </a:spcAft>
            </a:pPr>
            <a:r>
              <a:rPr sz="1600"/>
              <a:t>metrics.py — 物理指標純函數</a:t>
            </a:r>
          </a:p>
          <a:p>
            <a:pPr lvl="1">
              <a:spcAft>
                <a:spcPts val="800"/>
              </a:spcAft>
            </a:pPr>
            <a:r>
              <a:rPr sz="1600"/>
              <a:t>screening.py — 條件套用 + 排序</a:t>
            </a:r>
          </a:p>
          <a:p>
            <a:pPr lvl="1">
              <a:spcAft>
                <a:spcPts val="800"/>
              </a:spcAft>
            </a:pPr>
            <a:r>
              <a:rPr sz="1600"/>
              <a:t>visualization.py — 圖表輸出</a:t>
            </a:r>
          </a:p>
          <a:p>
            <a:pPr lvl="1">
              <a:spcAft>
                <a:spcPts val="800"/>
              </a:spcAft>
            </a:pPr>
            <a:r>
              <a:rPr sz="1600"/>
              <a:t>main.py — pipeline 串接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Demo data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為什麼公開版用 synthetic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原始 simulation 資料來自專用光學/電磁模擬工具，未公開</a:t>
            </a:r>
          </a:p>
          <a:p>
            <a:pPr>
              <a:spcAft>
                <a:spcPts val="800"/>
              </a:spcAft>
            </a:pPr>
            <a:r>
              <a:rPr sz="2000" b="1"/>
              <a:t>用 physics-inspired synthesis 替代</a:t>
            </a:r>
          </a:p>
          <a:p>
            <a:pPr lvl="1">
              <a:spcAft>
                <a:spcPts val="800"/>
              </a:spcAft>
            </a:pPr>
            <a:r>
              <a:rPr sz="1600"/>
              <a:t>Gaussian envelope × radial ringing</a:t>
            </a:r>
          </a:p>
          <a:p>
            <a:pPr lvl="1">
              <a:spcAft>
                <a:spcPts val="800"/>
              </a:spcAft>
            </a:pPr>
            <a:r>
              <a:rPr sz="1600"/>
              <a:t>在參數空間中設計 sweet spot，部分組合自然通過篩選</a:t>
            </a:r>
          </a:p>
          <a:p>
            <a:pPr lvl="1">
              <a:spcAft>
                <a:spcPts val="800"/>
              </a:spcAft>
            </a:pPr>
            <a:r>
              <a:rPr sz="1600"/>
              <a:t>驗證 pipeline 能正確識別這些 sweet spot</a:t>
            </a:r>
          </a:p>
          <a:p>
            <a:pPr>
              <a:spcAft>
                <a:spcPts val="800"/>
              </a:spcAft>
            </a:pPr>
            <a:r>
              <a:rPr sz="2000" b="1"/>
              <a:t>8,200 組合 → AND 後 326 → Top-10</a:t>
            </a:r>
          </a:p>
          <a:p>
            <a:pPr lvl="1">
              <a:spcAft>
                <a:spcPts val="800"/>
              </a:spcAft>
            </a:pPr>
            <a:r>
              <a:rPr sz="1600"/>
              <a:t>Efficiency 12.8% ~ 13.7%，與原研究 5–23% 同數量級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通過三條件的 candidate 與 Top-10 排序結果</a:t>
            </a:r>
          </a:p>
        </p:txBody>
      </p:sp>
      <p:pic>
        <p:nvPicPr>
          <p:cNvPr id="4" name="Picture 3" descr="screening_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54480"/>
            <a:ext cx="4297680" cy="3683726"/>
          </a:xfrm>
          <a:prstGeom prst="rect">
            <a:avLst/>
          </a:prstGeom>
        </p:spPr>
      </p:pic>
      <p:pic>
        <p:nvPicPr>
          <p:cNvPr id="5" name="Picture 4" descr="top10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554480"/>
            <a:ext cx="4297680" cy="36837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9436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左：通過三條件的 326 個 candidate    右：Top-10（efficiency 0.128 ~ 0.137）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What this demonstrates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7863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555555"/>
                </a:solidFill>
              </a:defRPr>
            </a:pPr>
            <a:r>
              <a:t>從這份專案能看出的可遷移能力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Metric design — 把領域知識轉成可量化、可組合的條件</a:t>
            </a:r>
          </a:p>
          <a:p>
            <a:pPr lvl="1">
              <a:spcAft>
                <a:spcPts val="800"/>
              </a:spcAft>
            </a:pPr>
            <a:r>
              <a:rPr sz="1600"/>
              <a:t>這個能力直接對應到 ML evaluation pipeline 的設計</a:t>
            </a:r>
          </a:p>
          <a:p>
            <a:pPr>
              <a:spcAft>
                <a:spcPts val="800"/>
              </a:spcAft>
            </a:pPr>
            <a:r>
              <a:rPr sz="2000" b="1"/>
              <a:t>Pipeline thinking — 從研究腳本到 modular software</a:t>
            </a:r>
          </a:p>
          <a:p>
            <a:pPr>
              <a:spcAft>
                <a:spcPts val="800"/>
              </a:spcAft>
            </a:pPr>
            <a:r>
              <a:rPr sz="2000" b="1"/>
              <a:t>Domain reasoning + Python tooling</a:t>
            </a:r>
          </a:p>
          <a:p>
            <a:pPr lvl="1">
              <a:spcAft>
                <a:spcPts val="800"/>
              </a:spcAft>
            </a:pPr>
            <a:r>
              <a:rPr sz="1600"/>
              <a:t>適合領域 AI 場景（材料、半導體、光學的 surrogate model 等）</a:t>
            </a:r>
          </a:p>
          <a:p>
            <a:pPr>
              <a:spcAft>
                <a:spcPts val="800"/>
              </a:spcAft>
            </a:pPr>
            <a:r>
              <a:rPr sz="2000" b="1"/>
              <a:t>Honest framing</a:t>
            </a:r>
          </a:p>
          <a:p>
            <a:pPr lvl="1">
              <a:spcAft>
                <a:spcPts val="800"/>
              </a:spcAft>
            </a:pPr>
            <a:r>
              <a:rPr sz="1600"/>
              <a:t>這不是 AI 專案，是工程基本功展示。AI 作品另案進行。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